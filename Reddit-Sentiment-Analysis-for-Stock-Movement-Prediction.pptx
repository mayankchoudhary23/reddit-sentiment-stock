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Libre Baskerville" panose="02000000000000000000" pitchFamily="2" charset="0"/>
      <p:regular r:id="rId13"/>
    </p:embeddedFont>
    <p:embeddedFont>
      <p:font typeface="Open Sans" panose="020B0606030504020204" pitchFamily="3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05" d="100"/>
          <a:sy n="105" d="100"/>
        </p:scale>
        <p:origin x="232"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0821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039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Reddit Sentiment Analysis for Stock Movement Prediction</a:t>
            </a:r>
            <a:endParaRPr lang="en-US" sz="4450" dirty="0"/>
          </a:p>
        </p:txBody>
      </p:sp>
      <p:sp>
        <p:nvSpPr>
          <p:cNvPr id="4" name="Text 1"/>
          <p:cNvSpPr/>
          <p:nvPr/>
        </p:nvSpPr>
        <p:spPr>
          <a:xfrm>
            <a:off x="793790" y="3570446"/>
            <a:ext cx="7556421" cy="290322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This research explores how sentiment from Reddit posts can predict stock market movements. By analyzing comments related to stock tickers using three sentiment models—a Large Language Model (LLM), XGBoost, and Logistic Regression—this study aims to assess the predictive power of social media sentiment on stock returns. The project combines social media analytics with machine learning to enhance short-term stock return forecasting, highlighting potential applications in market monitoring and retail trend detection.</a:t>
            </a:r>
            <a:endParaRPr lang="en-US" sz="1750" dirty="0"/>
          </a:p>
        </p:txBody>
      </p:sp>
      <p:sp>
        <p:nvSpPr>
          <p:cNvPr id="5" name="Shape 2"/>
          <p:cNvSpPr/>
          <p:nvPr/>
        </p:nvSpPr>
        <p:spPr>
          <a:xfrm>
            <a:off x="793790" y="6745724"/>
            <a:ext cx="362903" cy="362903"/>
          </a:xfrm>
          <a:prstGeom prst="roundRect">
            <a:avLst>
              <a:gd name="adj" fmla="val 25194296"/>
            </a:avLst>
          </a:prstGeom>
          <a:noFill/>
          <a:ln w="7620">
            <a:solidFill>
              <a:srgbClr val="FFFFFF"/>
            </a:solidFill>
            <a:prstDash val="solid"/>
          </a:ln>
        </p:spPr>
        <p:txBody>
          <a:bodyPr/>
          <a:lstStyle/>
          <a:p>
            <a:endParaRPr lang="en-US"/>
          </a:p>
        </p:txBody>
      </p:sp>
      <p:sp>
        <p:nvSpPr>
          <p:cNvPr id="7" name="Text 3"/>
          <p:cNvSpPr/>
          <p:nvPr/>
        </p:nvSpPr>
        <p:spPr>
          <a:xfrm flipH="1">
            <a:off x="922376" y="6728817"/>
            <a:ext cx="1516023" cy="396835"/>
          </a:xfrm>
          <a:prstGeom prst="rect">
            <a:avLst/>
          </a:prstGeom>
          <a:noFill/>
          <a:ln/>
        </p:spPr>
        <p:txBody>
          <a:bodyPr wrap="none" lIns="0" tIns="0" rIns="0" bIns="0" rtlCol="0" anchor="t"/>
          <a:lstStyle/>
          <a:p>
            <a:pPr marL="0" indent="0" algn="l">
              <a:lnSpc>
                <a:spcPts val="3100"/>
              </a:lnSpc>
              <a:buNone/>
            </a:pP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628668"/>
            <a:ext cx="8880634"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Background and Related Work</a:t>
            </a:r>
            <a:endParaRPr lang="en-US" sz="4450" dirty="0"/>
          </a:p>
        </p:txBody>
      </p:sp>
      <p:sp>
        <p:nvSpPr>
          <p:cNvPr id="4" name="Shape 1"/>
          <p:cNvSpPr/>
          <p:nvPr/>
        </p:nvSpPr>
        <p:spPr>
          <a:xfrm>
            <a:off x="793790" y="4677608"/>
            <a:ext cx="4196358" cy="2758559"/>
          </a:xfrm>
          <a:prstGeom prst="roundRect">
            <a:avLst>
              <a:gd name="adj" fmla="val 1233"/>
            </a:avLst>
          </a:prstGeom>
          <a:solidFill>
            <a:srgbClr val="EAE8F3"/>
          </a:solidFill>
          <a:ln/>
        </p:spPr>
        <p:txBody>
          <a:bodyPr/>
          <a:lstStyle/>
          <a:p>
            <a:endParaRPr lang="en-US"/>
          </a:p>
        </p:txBody>
      </p:sp>
      <p:sp>
        <p:nvSpPr>
          <p:cNvPr id="5" name="Text 2"/>
          <p:cNvSpPr/>
          <p:nvPr/>
        </p:nvSpPr>
        <p:spPr>
          <a:xfrm>
            <a:off x="1020604" y="490442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Investor Sentiment</a:t>
            </a:r>
            <a:endParaRPr lang="en-US" sz="2200" dirty="0"/>
          </a:p>
        </p:txBody>
      </p:sp>
      <p:sp>
        <p:nvSpPr>
          <p:cNvPr id="6" name="Text 3"/>
          <p:cNvSpPr/>
          <p:nvPr/>
        </p:nvSpPr>
        <p:spPr>
          <a:xfrm>
            <a:off x="1020604" y="5394841"/>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Investor sentiment significantly influences short-term market behavior, driven by psychological and crowd factors beyond fundamentals.</a:t>
            </a:r>
            <a:endParaRPr lang="en-US" sz="1750" dirty="0"/>
          </a:p>
        </p:txBody>
      </p:sp>
      <p:sp>
        <p:nvSpPr>
          <p:cNvPr id="7" name="Shape 4"/>
          <p:cNvSpPr/>
          <p:nvPr/>
        </p:nvSpPr>
        <p:spPr>
          <a:xfrm>
            <a:off x="5216962" y="4677608"/>
            <a:ext cx="4196358" cy="2758559"/>
          </a:xfrm>
          <a:prstGeom prst="roundRect">
            <a:avLst>
              <a:gd name="adj" fmla="val 1233"/>
            </a:avLst>
          </a:prstGeom>
          <a:solidFill>
            <a:srgbClr val="EAE8F3"/>
          </a:solidFill>
          <a:ln/>
        </p:spPr>
        <p:txBody>
          <a:bodyPr/>
          <a:lstStyle/>
          <a:p>
            <a:endParaRPr lang="en-US"/>
          </a:p>
        </p:txBody>
      </p:sp>
      <p:sp>
        <p:nvSpPr>
          <p:cNvPr id="8" name="Text 5"/>
          <p:cNvSpPr/>
          <p:nvPr/>
        </p:nvSpPr>
        <p:spPr>
          <a:xfrm>
            <a:off x="5443776" y="490442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Social Media Role</a:t>
            </a:r>
            <a:endParaRPr lang="en-US" sz="2200" dirty="0"/>
          </a:p>
        </p:txBody>
      </p:sp>
      <p:sp>
        <p:nvSpPr>
          <p:cNvPr id="9" name="Text 6"/>
          <p:cNvSpPr/>
          <p:nvPr/>
        </p:nvSpPr>
        <p:spPr>
          <a:xfrm>
            <a:off x="5443776" y="5394841"/>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Platforms like Twitter and Reddit shape retail investor opinions, providing real-time discussions on stocks and market events.</a:t>
            </a:r>
            <a:endParaRPr lang="en-US" sz="1750" dirty="0"/>
          </a:p>
        </p:txBody>
      </p:sp>
      <p:sp>
        <p:nvSpPr>
          <p:cNvPr id="10" name="Shape 7"/>
          <p:cNvSpPr/>
          <p:nvPr/>
        </p:nvSpPr>
        <p:spPr>
          <a:xfrm>
            <a:off x="9640133" y="4677608"/>
            <a:ext cx="4196358" cy="2758559"/>
          </a:xfrm>
          <a:prstGeom prst="roundRect">
            <a:avLst>
              <a:gd name="adj" fmla="val 1233"/>
            </a:avLst>
          </a:prstGeom>
          <a:solidFill>
            <a:srgbClr val="EAE8F3"/>
          </a:solidFill>
          <a:ln/>
        </p:spPr>
        <p:txBody>
          <a:bodyPr/>
          <a:lstStyle/>
          <a:p>
            <a:endParaRPr lang="en-US"/>
          </a:p>
        </p:txBody>
      </p:sp>
      <p:sp>
        <p:nvSpPr>
          <p:cNvPr id="11" name="Text 8"/>
          <p:cNvSpPr/>
          <p:nvPr/>
        </p:nvSpPr>
        <p:spPr>
          <a:xfrm>
            <a:off x="9866948" y="490442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Reddit's Advantage</a:t>
            </a:r>
            <a:endParaRPr lang="en-US" sz="2200" dirty="0"/>
          </a:p>
        </p:txBody>
      </p:sp>
      <p:sp>
        <p:nvSpPr>
          <p:cNvPr id="12" name="Text 9"/>
          <p:cNvSpPr/>
          <p:nvPr/>
        </p:nvSpPr>
        <p:spPr>
          <a:xfrm>
            <a:off x="9866948" y="5394841"/>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Reddit offers longer, context-rich posts with stock tickers, making it ideal for extracting nuanced financial sentiment compared to Twitter.</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34362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Problem Statement</a:t>
            </a:r>
            <a:endParaRPr lang="en-US" sz="4450" dirty="0"/>
          </a:p>
        </p:txBody>
      </p:sp>
      <p:sp>
        <p:nvSpPr>
          <p:cNvPr id="4" name="Shape 1"/>
          <p:cNvSpPr/>
          <p:nvPr/>
        </p:nvSpPr>
        <p:spPr>
          <a:xfrm>
            <a:off x="793790" y="2392561"/>
            <a:ext cx="510302" cy="510302"/>
          </a:xfrm>
          <a:prstGeom prst="roundRect">
            <a:avLst>
              <a:gd name="adj" fmla="val 6667"/>
            </a:avLst>
          </a:prstGeom>
          <a:solidFill>
            <a:srgbClr val="EAE8F3"/>
          </a:solidFill>
          <a:ln/>
        </p:spPr>
        <p:txBody>
          <a:bodyPr/>
          <a:lstStyle/>
          <a:p>
            <a:endParaRPr lang="en-US"/>
          </a:p>
        </p:txBody>
      </p:sp>
      <p:sp>
        <p:nvSpPr>
          <p:cNvPr id="5" name="Text 2"/>
          <p:cNvSpPr/>
          <p:nvPr/>
        </p:nvSpPr>
        <p:spPr>
          <a:xfrm>
            <a:off x="1530906" y="24704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Core Challenge</a:t>
            </a:r>
            <a:endParaRPr lang="en-US" sz="2200" dirty="0"/>
          </a:p>
        </p:txBody>
      </p:sp>
      <p:sp>
        <p:nvSpPr>
          <p:cNvPr id="6" name="Text 3"/>
          <p:cNvSpPr/>
          <p:nvPr/>
        </p:nvSpPr>
        <p:spPr>
          <a:xfrm>
            <a:off x="1530906" y="2960846"/>
            <a:ext cx="2899410"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Can sentiment from Reddit posts accurately predict daily stock return direction despite noisy, unstructured content?</a:t>
            </a:r>
            <a:endParaRPr lang="en-US" sz="1750" dirty="0"/>
          </a:p>
        </p:txBody>
      </p:sp>
      <p:sp>
        <p:nvSpPr>
          <p:cNvPr id="7" name="Shape 4"/>
          <p:cNvSpPr/>
          <p:nvPr/>
        </p:nvSpPr>
        <p:spPr>
          <a:xfrm>
            <a:off x="4713803" y="2392561"/>
            <a:ext cx="510302" cy="510302"/>
          </a:xfrm>
          <a:prstGeom prst="roundRect">
            <a:avLst>
              <a:gd name="adj" fmla="val 6667"/>
            </a:avLst>
          </a:prstGeom>
          <a:solidFill>
            <a:srgbClr val="EAE8F3"/>
          </a:solidFill>
          <a:ln/>
        </p:spPr>
        <p:txBody>
          <a:bodyPr/>
          <a:lstStyle/>
          <a:p>
            <a:endParaRPr lang="en-US"/>
          </a:p>
        </p:txBody>
      </p:sp>
      <p:sp>
        <p:nvSpPr>
          <p:cNvPr id="8" name="Text 5"/>
          <p:cNvSpPr/>
          <p:nvPr/>
        </p:nvSpPr>
        <p:spPr>
          <a:xfrm>
            <a:off x="5450919" y="24704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Model Fusion</a:t>
            </a:r>
            <a:endParaRPr lang="en-US" sz="2200" dirty="0"/>
          </a:p>
        </p:txBody>
      </p:sp>
      <p:sp>
        <p:nvSpPr>
          <p:cNvPr id="9" name="Text 6"/>
          <p:cNvSpPr/>
          <p:nvPr/>
        </p:nvSpPr>
        <p:spPr>
          <a:xfrm>
            <a:off x="5450919" y="2960846"/>
            <a:ext cx="2899410"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Using multiple models (LLM, XGBoost, Logistic Regression) to label sentiment aims to improve prediction reliability.</a:t>
            </a:r>
            <a:endParaRPr lang="en-US" sz="1750" dirty="0"/>
          </a:p>
        </p:txBody>
      </p:sp>
      <p:sp>
        <p:nvSpPr>
          <p:cNvPr id="10" name="Shape 7"/>
          <p:cNvSpPr/>
          <p:nvPr/>
        </p:nvSpPr>
        <p:spPr>
          <a:xfrm>
            <a:off x="793790" y="5228987"/>
            <a:ext cx="510302" cy="510302"/>
          </a:xfrm>
          <a:prstGeom prst="roundRect">
            <a:avLst>
              <a:gd name="adj" fmla="val 6667"/>
            </a:avLst>
          </a:prstGeom>
          <a:solidFill>
            <a:srgbClr val="EAE8F3"/>
          </a:solidFill>
          <a:ln/>
        </p:spPr>
        <p:txBody>
          <a:bodyPr/>
          <a:lstStyle/>
          <a:p>
            <a:endParaRPr lang="en-US"/>
          </a:p>
        </p:txBody>
      </p:sp>
      <p:sp>
        <p:nvSpPr>
          <p:cNvPr id="11" name="Text 8"/>
          <p:cNvSpPr/>
          <p:nvPr/>
        </p:nvSpPr>
        <p:spPr>
          <a:xfrm>
            <a:off x="1530906" y="53068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Market Impact</a:t>
            </a:r>
            <a:endParaRPr lang="en-US" sz="2200" dirty="0"/>
          </a:p>
        </p:txBody>
      </p:sp>
      <p:sp>
        <p:nvSpPr>
          <p:cNvPr id="12" name="Text 9"/>
          <p:cNvSpPr/>
          <p:nvPr/>
        </p:nvSpPr>
        <p:spPr>
          <a:xfrm>
            <a:off x="1530906" y="5797272"/>
            <a:ext cx="6819305"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Reddit's growing influence in retail investing makes understanding its sentiment crucial for forecasting stock movements.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21700"/>
            <a:ext cx="5704403"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Dataset Description</a:t>
            </a:r>
            <a:endParaRPr lang="en-US" sz="4450" dirty="0"/>
          </a:p>
        </p:txBody>
      </p:sp>
      <p:pic>
        <p:nvPicPr>
          <p:cNvPr id="3" name="Image 0" descr="preencoded.png"/>
          <p:cNvPicPr>
            <a:picLocks noChangeAspect="1"/>
          </p:cNvPicPr>
          <p:nvPr/>
        </p:nvPicPr>
        <p:blipFill>
          <a:blip r:embed="rId3"/>
          <a:stretch>
            <a:fillRect/>
          </a:stretch>
        </p:blipFill>
        <p:spPr>
          <a:xfrm>
            <a:off x="793790" y="2384108"/>
            <a:ext cx="4892040" cy="1905000"/>
          </a:xfrm>
          <a:prstGeom prst="rect">
            <a:avLst/>
          </a:prstGeom>
        </p:spPr>
      </p:pic>
      <p:sp>
        <p:nvSpPr>
          <p:cNvPr id="4" name="Text 1"/>
          <p:cNvSpPr/>
          <p:nvPr/>
        </p:nvSpPr>
        <p:spPr>
          <a:xfrm>
            <a:off x="793790" y="477107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Reddit Stock Posts</a:t>
            </a:r>
            <a:endParaRPr lang="en-US" sz="2200" dirty="0"/>
          </a:p>
        </p:txBody>
      </p:sp>
      <p:sp>
        <p:nvSpPr>
          <p:cNvPr id="5" name="Text 2"/>
          <p:cNvSpPr/>
          <p:nvPr/>
        </p:nvSpPr>
        <p:spPr>
          <a:xfrm>
            <a:off x="793790" y="5352217"/>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Collected from Kaggle, includes posts on seven tickers like AAPL, TSLA, and GME with titles, content, timestamps, and tickers.</a:t>
            </a:r>
            <a:endParaRPr lang="en-US" sz="1750" dirty="0"/>
          </a:p>
        </p:txBody>
      </p:sp>
      <p:sp>
        <p:nvSpPr>
          <p:cNvPr id="6" name="Text 3"/>
          <p:cNvSpPr/>
          <p:nvPr/>
        </p:nvSpPr>
        <p:spPr>
          <a:xfrm>
            <a:off x="5332928" y="4771073"/>
            <a:ext cx="3156466"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Sentiment140 Dataset</a:t>
            </a:r>
            <a:endParaRPr lang="en-US" sz="2200" dirty="0"/>
          </a:p>
        </p:txBody>
      </p:sp>
      <p:sp>
        <p:nvSpPr>
          <p:cNvPr id="7" name="Text 4"/>
          <p:cNvSpPr/>
          <p:nvPr/>
        </p:nvSpPr>
        <p:spPr>
          <a:xfrm>
            <a:off x="5332928" y="5352217"/>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Contains 1.6 million labeled tweets used to train XGBoost and Logistic Regression sentiment classifiers.</a:t>
            </a:r>
            <a:endParaRPr lang="en-US" sz="1750" dirty="0"/>
          </a:p>
        </p:txBody>
      </p:sp>
      <p:sp>
        <p:nvSpPr>
          <p:cNvPr id="8" name="Text 5"/>
          <p:cNvSpPr/>
          <p:nvPr/>
        </p:nvSpPr>
        <p:spPr>
          <a:xfrm>
            <a:off x="9872067" y="477107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Stock Price Data</a:t>
            </a:r>
            <a:endParaRPr lang="en-US" sz="2200" dirty="0"/>
          </a:p>
        </p:txBody>
      </p:sp>
      <p:sp>
        <p:nvSpPr>
          <p:cNvPr id="9" name="Text 6"/>
          <p:cNvSpPr/>
          <p:nvPr/>
        </p:nvSpPr>
        <p:spPr>
          <a:xfrm>
            <a:off x="9872067" y="5352217"/>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Historical daily prices from 2018 to 2023 for the seven tickers, merged with Reddit posts by date and ticker.</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7474" y="929045"/>
            <a:ext cx="7649051" cy="1334929"/>
          </a:xfrm>
          <a:prstGeom prst="rect">
            <a:avLst/>
          </a:prstGeom>
          <a:noFill/>
          <a:ln/>
        </p:spPr>
        <p:txBody>
          <a:bodyPr wrap="square" lIns="0" tIns="0" rIns="0" bIns="0" rtlCol="0" anchor="t"/>
          <a:lstStyle/>
          <a:p>
            <a:pPr marL="0" indent="0" algn="l">
              <a:lnSpc>
                <a:spcPts val="5250"/>
              </a:lnSpc>
              <a:buNone/>
            </a:pPr>
            <a:r>
              <a:rPr lang="en-US" sz="4200" dirty="0">
                <a:solidFill>
                  <a:srgbClr val="403CCF"/>
                </a:solidFill>
                <a:latin typeface="Libre Baskerville" pitchFamily="34" charset="0"/>
                <a:ea typeface="Libre Baskerville" pitchFamily="34" charset="-122"/>
                <a:cs typeface="Libre Baskerville" pitchFamily="34" charset="-120"/>
              </a:rPr>
              <a:t>Data Collection and Preprocessing</a:t>
            </a:r>
            <a:endParaRPr lang="en-US" sz="4200" dirty="0"/>
          </a:p>
        </p:txBody>
      </p:sp>
      <p:pic>
        <p:nvPicPr>
          <p:cNvPr id="4" name="Image 1" descr="preencoded.png"/>
          <p:cNvPicPr>
            <a:picLocks noChangeAspect="1"/>
          </p:cNvPicPr>
          <p:nvPr/>
        </p:nvPicPr>
        <p:blipFill>
          <a:blip r:embed="rId4"/>
          <a:stretch>
            <a:fillRect/>
          </a:stretch>
        </p:blipFill>
        <p:spPr>
          <a:xfrm>
            <a:off x="747474" y="2584252"/>
            <a:ext cx="1067872" cy="1572101"/>
          </a:xfrm>
          <a:prstGeom prst="rect">
            <a:avLst/>
          </a:prstGeom>
        </p:spPr>
      </p:pic>
      <p:sp>
        <p:nvSpPr>
          <p:cNvPr id="5" name="Text 1"/>
          <p:cNvSpPr/>
          <p:nvPr/>
        </p:nvSpPr>
        <p:spPr>
          <a:xfrm>
            <a:off x="2135624" y="2797731"/>
            <a:ext cx="2669619" cy="333613"/>
          </a:xfrm>
          <a:prstGeom prst="rect">
            <a:avLst/>
          </a:prstGeom>
          <a:noFill/>
          <a:ln/>
        </p:spPr>
        <p:txBody>
          <a:bodyPr wrap="none" lIns="0" tIns="0" rIns="0" bIns="0" rtlCol="0" anchor="t"/>
          <a:lstStyle/>
          <a:p>
            <a:pPr marL="0" indent="0" algn="l">
              <a:lnSpc>
                <a:spcPts val="2600"/>
              </a:lnSpc>
              <a:buNone/>
            </a:pPr>
            <a:r>
              <a:rPr lang="en-US" sz="2100" dirty="0">
                <a:solidFill>
                  <a:srgbClr val="49495A"/>
                </a:solidFill>
                <a:latin typeface="Libre Baskerville" pitchFamily="34" charset="0"/>
                <a:ea typeface="Libre Baskerville" pitchFamily="34" charset="-122"/>
                <a:cs typeface="Libre Baskerville" pitchFamily="34" charset="-120"/>
              </a:rPr>
              <a:t>Text Cleaning</a:t>
            </a:r>
            <a:endParaRPr lang="en-US" sz="2100" dirty="0"/>
          </a:p>
        </p:txBody>
      </p:sp>
      <p:sp>
        <p:nvSpPr>
          <p:cNvPr id="6" name="Text 2"/>
          <p:cNvSpPr/>
          <p:nvPr/>
        </p:nvSpPr>
        <p:spPr>
          <a:xfrm>
            <a:off x="2135624" y="3259455"/>
            <a:ext cx="6260902" cy="683419"/>
          </a:xfrm>
          <a:prstGeom prst="rect">
            <a:avLst/>
          </a:prstGeom>
          <a:noFill/>
          <a:ln/>
        </p:spPr>
        <p:txBody>
          <a:bodyPr wrap="square" lIns="0" tIns="0" rIns="0" bIns="0" rtlCol="0" anchor="t"/>
          <a:lstStyle/>
          <a:p>
            <a:pPr marL="0" indent="0" algn="l">
              <a:lnSpc>
                <a:spcPts val="2650"/>
              </a:lnSpc>
              <a:buNone/>
            </a:pPr>
            <a:r>
              <a:rPr lang="en-US" sz="1650" dirty="0">
                <a:solidFill>
                  <a:srgbClr val="49495A"/>
                </a:solidFill>
                <a:latin typeface="Open Sans" pitchFamily="34" charset="0"/>
                <a:ea typeface="Open Sans" pitchFamily="34" charset="-122"/>
                <a:cs typeface="Open Sans" pitchFamily="34" charset="-120"/>
              </a:rPr>
              <a:t>Titles and post bodies were cleaned and combined into a unified text field for sentiment analysis.</a:t>
            </a:r>
            <a:endParaRPr lang="en-US" sz="1650" dirty="0"/>
          </a:p>
        </p:txBody>
      </p:sp>
      <p:pic>
        <p:nvPicPr>
          <p:cNvPr id="7" name="Image 2" descr="preencoded.png"/>
          <p:cNvPicPr>
            <a:picLocks noChangeAspect="1"/>
          </p:cNvPicPr>
          <p:nvPr/>
        </p:nvPicPr>
        <p:blipFill>
          <a:blip r:embed="rId5"/>
          <a:stretch>
            <a:fillRect/>
          </a:stretch>
        </p:blipFill>
        <p:spPr>
          <a:xfrm>
            <a:off x="747474" y="4156353"/>
            <a:ext cx="1067872" cy="1572101"/>
          </a:xfrm>
          <a:prstGeom prst="rect">
            <a:avLst/>
          </a:prstGeom>
        </p:spPr>
      </p:pic>
      <p:sp>
        <p:nvSpPr>
          <p:cNvPr id="8" name="Text 3"/>
          <p:cNvSpPr/>
          <p:nvPr/>
        </p:nvSpPr>
        <p:spPr>
          <a:xfrm>
            <a:off x="2135624" y="4369832"/>
            <a:ext cx="2669619" cy="333613"/>
          </a:xfrm>
          <a:prstGeom prst="rect">
            <a:avLst/>
          </a:prstGeom>
          <a:noFill/>
          <a:ln/>
        </p:spPr>
        <p:txBody>
          <a:bodyPr wrap="none" lIns="0" tIns="0" rIns="0" bIns="0" rtlCol="0" anchor="t"/>
          <a:lstStyle/>
          <a:p>
            <a:pPr marL="0" indent="0" algn="l">
              <a:lnSpc>
                <a:spcPts val="2600"/>
              </a:lnSpc>
              <a:buNone/>
            </a:pPr>
            <a:r>
              <a:rPr lang="en-US" sz="2100" dirty="0">
                <a:solidFill>
                  <a:srgbClr val="49495A"/>
                </a:solidFill>
                <a:latin typeface="Libre Baskerville" pitchFamily="34" charset="0"/>
                <a:ea typeface="Libre Baskerville" pitchFamily="34" charset="-122"/>
                <a:cs typeface="Libre Baskerville" pitchFamily="34" charset="-120"/>
              </a:rPr>
              <a:t>Label Mapping</a:t>
            </a:r>
            <a:endParaRPr lang="en-US" sz="2100" dirty="0"/>
          </a:p>
        </p:txBody>
      </p:sp>
      <p:sp>
        <p:nvSpPr>
          <p:cNvPr id="9" name="Text 4"/>
          <p:cNvSpPr/>
          <p:nvPr/>
        </p:nvSpPr>
        <p:spPr>
          <a:xfrm>
            <a:off x="2135624" y="4831556"/>
            <a:ext cx="6260902" cy="683419"/>
          </a:xfrm>
          <a:prstGeom prst="rect">
            <a:avLst/>
          </a:prstGeom>
          <a:noFill/>
          <a:ln/>
        </p:spPr>
        <p:txBody>
          <a:bodyPr wrap="square" lIns="0" tIns="0" rIns="0" bIns="0" rtlCol="0" anchor="t"/>
          <a:lstStyle/>
          <a:p>
            <a:pPr marL="0" indent="0" algn="l">
              <a:lnSpc>
                <a:spcPts val="2650"/>
              </a:lnSpc>
              <a:buNone/>
            </a:pPr>
            <a:r>
              <a:rPr lang="en-US" sz="1650" dirty="0">
                <a:solidFill>
                  <a:srgbClr val="49495A"/>
                </a:solidFill>
                <a:latin typeface="Open Sans" pitchFamily="34" charset="0"/>
                <a:ea typeface="Open Sans" pitchFamily="34" charset="-122"/>
                <a:cs typeface="Open Sans" pitchFamily="34" charset="-120"/>
              </a:rPr>
              <a:t>Sentiment140 tweets were labeled binary (positive/negative), excluding neutral samples for clear classification.</a:t>
            </a:r>
            <a:endParaRPr lang="en-US" sz="1650" dirty="0"/>
          </a:p>
        </p:txBody>
      </p:sp>
      <p:pic>
        <p:nvPicPr>
          <p:cNvPr id="10" name="Image 3" descr="preencoded.png"/>
          <p:cNvPicPr>
            <a:picLocks noChangeAspect="1"/>
          </p:cNvPicPr>
          <p:nvPr/>
        </p:nvPicPr>
        <p:blipFill>
          <a:blip r:embed="rId6"/>
          <a:stretch>
            <a:fillRect/>
          </a:stretch>
        </p:blipFill>
        <p:spPr>
          <a:xfrm>
            <a:off x="747474" y="5728454"/>
            <a:ext cx="1067872" cy="1572101"/>
          </a:xfrm>
          <a:prstGeom prst="rect">
            <a:avLst/>
          </a:prstGeom>
        </p:spPr>
      </p:pic>
      <p:sp>
        <p:nvSpPr>
          <p:cNvPr id="11" name="Text 5"/>
          <p:cNvSpPr/>
          <p:nvPr/>
        </p:nvSpPr>
        <p:spPr>
          <a:xfrm>
            <a:off x="2135624" y="5941933"/>
            <a:ext cx="2971086" cy="333613"/>
          </a:xfrm>
          <a:prstGeom prst="rect">
            <a:avLst/>
          </a:prstGeom>
          <a:noFill/>
          <a:ln/>
        </p:spPr>
        <p:txBody>
          <a:bodyPr wrap="none" lIns="0" tIns="0" rIns="0" bIns="0" rtlCol="0" anchor="t"/>
          <a:lstStyle/>
          <a:p>
            <a:pPr marL="0" indent="0" algn="l">
              <a:lnSpc>
                <a:spcPts val="2600"/>
              </a:lnSpc>
              <a:buNone/>
            </a:pPr>
            <a:r>
              <a:rPr lang="en-US" sz="2100" dirty="0">
                <a:solidFill>
                  <a:srgbClr val="49495A"/>
                </a:solidFill>
                <a:latin typeface="Libre Baskerville" pitchFamily="34" charset="0"/>
                <a:ea typeface="Libre Baskerville" pitchFamily="34" charset="-122"/>
                <a:cs typeface="Libre Baskerville" pitchFamily="34" charset="-120"/>
              </a:rPr>
              <a:t>Stock Data Alignment</a:t>
            </a:r>
            <a:endParaRPr lang="en-US" sz="2100" dirty="0"/>
          </a:p>
        </p:txBody>
      </p:sp>
      <p:sp>
        <p:nvSpPr>
          <p:cNvPr id="12" name="Text 6"/>
          <p:cNvSpPr/>
          <p:nvPr/>
        </p:nvSpPr>
        <p:spPr>
          <a:xfrm>
            <a:off x="2135624" y="6403658"/>
            <a:ext cx="6260902" cy="683419"/>
          </a:xfrm>
          <a:prstGeom prst="rect">
            <a:avLst/>
          </a:prstGeom>
          <a:noFill/>
          <a:ln/>
        </p:spPr>
        <p:txBody>
          <a:bodyPr wrap="square" lIns="0" tIns="0" rIns="0" bIns="0" rtlCol="0" anchor="t"/>
          <a:lstStyle/>
          <a:p>
            <a:pPr marL="0" indent="0" algn="l">
              <a:lnSpc>
                <a:spcPts val="2650"/>
              </a:lnSpc>
              <a:buNone/>
            </a:pPr>
            <a:r>
              <a:rPr lang="en-US" sz="1650" dirty="0">
                <a:solidFill>
                  <a:srgbClr val="49495A"/>
                </a:solidFill>
                <a:latin typeface="Open Sans" pitchFamily="34" charset="0"/>
                <a:ea typeface="Open Sans" pitchFamily="34" charset="-122"/>
                <a:cs typeface="Open Sans" pitchFamily="34" charset="-120"/>
              </a:rPr>
              <a:t>Daily stock returns were computed and merged with Reddit posts by ticker and date, filtering ambiguous sentiment cases.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17705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Methodology</a:t>
            </a:r>
            <a:endParaRPr lang="en-US" sz="4450" dirty="0"/>
          </a:p>
        </p:txBody>
      </p:sp>
      <p:sp>
        <p:nvSpPr>
          <p:cNvPr id="3" name="Text 1"/>
          <p:cNvSpPr/>
          <p:nvPr/>
        </p:nvSpPr>
        <p:spPr>
          <a:xfrm>
            <a:off x="793790" y="34528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Sentiment Models</a:t>
            </a:r>
            <a:endParaRPr lang="en-US" sz="2200" dirty="0"/>
          </a:p>
        </p:txBody>
      </p:sp>
      <p:sp>
        <p:nvSpPr>
          <p:cNvPr id="4" name="Text 2"/>
          <p:cNvSpPr/>
          <p:nvPr/>
        </p:nvSpPr>
        <p:spPr>
          <a:xfrm>
            <a:off x="793790" y="4033957"/>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Applied LLM for contextual sentiment, and trained XGBoost and Logistic Regression on Sentiment140 tweets using TF-IDF features.</a:t>
            </a:r>
            <a:endParaRPr lang="en-US" sz="1750" dirty="0"/>
          </a:p>
        </p:txBody>
      </p:sp>
      <p:sp>
        <p:nvSpPr>
          <p:cNvPr id="5" name="Text 3"/>
          <p:cNvSpPr/>
          <p:nvPr/>
        </p:nvSpPr>
        <p:spPr>
          <a:xfrm>
            <a:off x="5332928" y="34528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Fusion Strategy</a:t>
            </a:r>
            <a:endParaRPr lang="en-US" sz="2200" dirty="0"/>
          </a:p>
        </p:txBody>
      </p:sp>
      <p:sp>
        <p:nvSpPr>
          <p:cNvPr id="6" name="Text 4"/>
          <p:cNvSpPr/>
          <p:nvPr/>
        </p:nvSpPr>
        <p:spPr>
          <a:xfrm>
            <a:off x="5332928" y="4033957"/>
            <a:ext cx="3978116"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Combined three model outputs: posts with full disagreement were discarded; neutral predictions dominated; majority vote decided final label.</a:t>
            </a:r>
            <a:endParaRPr lang="en-US" sz="1750" dirty="0"/>
          </a:p>
        </p:txBody>
      </p:sp>
      <p:sp>
        <p:nvSpPr>
          <p:cNvPr id="7" name="Text 5"/>
          <p:cNvSpPr/>
          <p:nvPr/>
        </p:nvSpPr>
        <p:spPr>
          <a:xfrm>
            <a:off x="9872067" y="3452813"/>
            <a:ext cx="3483173"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Stock Return Prediction</a:t>
            </a:r>
            <a:endParaRPr lang="en-US" sz="2200" dirty="0"/>
          </a:p>
        </p:txBody>
      </p:sp>
      <p:sp>
        <p:nvSpPr>
          <p:cNvPr id="8" name="Text 6"/>
          <p:cNvSpPr/>
          <p:nvPr/>
        </p:nvSpPr>
        <p:spPr>
          <a:xfrm>
            <a:off x="9872067" y="4033957"/>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Trained XGBoost classifier on Reddit posts with fused sentiment to predict daily stock return direction (up, down, neutral).</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3116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Sentiment Analysis and System Model</a:t>
            </a:r>
            <a:endParaRPr lang="en-US" sz="4450" dirty="0"/>
          </a:p>
        </p:txBody>
      </p:sp>
      <p:sp>
        <p:nvSpPr>
          <p:cNvPr id="4" name="Shape 1"/>
          <p:cNvSpPr/>
          <p:nvPr/>
        </p:nvSpPr>
        <p:spPr>
          <a:xfrm>
            <a:off x="6280190" y="2488883"/>
            <a:ext cx="3664863" cy="3112889"/>
          </a:xfrm>
          <a:prstGeom prst="roundRect">
            <a:avLst>
              <a:gd name="adj" fmla="val 1093"/>
            </a:avLst>
          </a:prstGeom>
          <a:solidFill>
            <a:srgbClr val="EAE8F3"/>
          </a:solidFill>
          <a:ln/>
        </p:spPr>
        <p:txBody>
          <a:bodyPr/>
          <a:lstStyle/>
          <a:p>
            <a:endParaRPr lang="en-US"/>
          </a:p>
        </p:txBody>
      </p:sp>
      <p:sp>
        <p:nvSpPr>
          <p:cNvPr id="5" name="Text 2"/>
          <p:cNvSpPr/>
          <p:nvPr/>
        </p:nvSpPr>
        <p:spPr>
          <a:xfrm>
            <a:off x="6507004" y="2715697"/>
            <a:ext cx="3211235"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Hybrid Sentiment Classification</a:t>
            </a:r>
            <a:endParaRPr lang="en-US" sz="2200" dirty="0"/>
          </a:p>
        </p:txBody>
      </p:sp>
      <p:sp>
        <p:nvSpPr>
          <p:cNvPr id="6" name="Text 3"/>
          <p:cNvSpPr/>
          <p:nvPr/>
        </p:nvSpPr>
        <p:spPr>
          <a:xfrm>
            <a:off x="6507004" y="3560445"/>
            <a:ext cx="3211235"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LLM captures nuanced financial language; XGBoost and Logistic Regression provide scalable, complementary predictions.</a:t>
            </a:r>
            <a:endParaRPr lang="en-US" sz="1750" dirty="0"/>
          </a:p>
        </p:txBody>
      </p:sp>
      <p:sp>
        <p:nvSpPr>
          <p:cNvPr id="7" name="Shape 4"/>
          <p:cNvSpPr/>
          <p:nvPr/>
        </p:nvSpPr>
        <p:spPr>
          <a:xfrm>
            <a:off x="10171867" y="2488883"/>
            <a:ext cx="3664863" cy="3112889"/>
          </a:xfrm>
          <a:prstGeom prst="roundRect">
            <a:avLst>
              <a:gd name="adj" fmla="val 1093"/>
            </a:avLst>
          </a:prstGeom>
          <a:solidFill>
            <a:srgbClr val="EAE8F3"/>
          </a:solidFill>
          <a:ln/>
        </p:spPr>
        <p:txBody>
          <a:bodyPr/>
          <a:lstStyle/>
          <a:p>
            <a:endParaRPr lang="en-US"/>
          </a:p>
        </p:txBody>
      </p:sp>
      <p:sp>
        <p:nvSpPr>
          <p:cNvPr id="8" name="Text 5"/>
          <p:cNvSpPr/>
          <p:nvPr/>
        </p:nvSpPr>
        <p:spPr>
          <a:xfrm>
            <a:off x="10398681" y="27156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Fusion Rules</a:t>
            </a:r>
            <a:endParaRPr lang="en-US" sz="2200" dirty="0"/>
          </a:p>
        </p:txBody>
      </p:sp>
      <p:sp>
        <p:nvSpPr>
          <p:cNvPr id="9" name="Text 6"/>
          <p:cNvSpPr/>
          <p:nvPr/>
        </p:nvSpPr>
        <p:spPr>
          <a:xfrm>
            <a:off x="10398681" y="3206115"/>
            <a:ext cx="3211235"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Neutral labels take precedence; disagreements lead to post removal; majority agreement finalizes sentiment.</a:t>
            </a:r>
            <a:endParaRPr lang="en-US" sz="1750" dirty="0"/>
          </a:p>
        </p:txBody>
      </p:sp>
      <p:sp>
        <p:nvSpPr>
          <p:cNvPr id="10" name="Shape 7"/>
          <p:cNvSpPr/>
          <p:nvPr/>
        </p:nvSpPr>
        <p:spPr>
          <a:xfrm>
            <a:off x="6280190" y="5828586"/>
            <a:ext cx="7556421" cy="1669852"/>
          </a:xfrm>
          <a:prstGeom prst="roundRect">
            <a:avLst>
              <a:gd name="adj" fmla="val 2038"/>
            </a:avLst>
          </a:prstGeom>
          <a:solidFill>
            <a:srgbClr val="EAE8F3"/>
          </a:solidFill>
          <a:ln/>
        </p:spPr>
        <p:txBody>
          <a:bodyPr/>
          <a:lstStyle/>
          <a:p>
            <a:endParaRPr lang="en-US"/>
          </a:p>
        </p:txBody>
      </p:sp>
      <p:sp>
        <p:nvSpPr>
          <p:cNvPr id="11" name="Text 8"/>
          <p:cNvSpPr/>
          <p:nvPr/>
        </p:nvSpPr>
        <p:spPr>
          <a:xfrm>
            <a:off x="6507004" y="605540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Prediction Pipeline</a:t>
            </a:r>
            <a:endParaRPr lang="en-US" sz="2200" dirty="0"/>
          </a:p>
        </p:txBody>
      </p:sp>
      <p:sp>
        <p:nvSpPr>
          <p:cNvPr id="12" name="Text 9"/>
          <p:cNvSpPr/>
          <p:nvPr/>
        </p:nvSpPr>
        <p:spPr>
          <a:xfrm>
            <a:off x="6507004" y="6545818"/>
            <a:ext cx="7102793"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Sentiment-labeled posts merged with stock returns to train XGBoost for forecasting daily stock movement direction.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7062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Algorithm Performance and Experimental Results</a:t>
            </a:r>
            <a:endParaRPr lang="en-US" sz="4450" dirty="0"/>
          </a:p>
        </p:txBody>
      </p:sp>
      <p:sp>
        <p:nvSpPr>
          <p:cNvPr id="4" name="Shape 1"/>
          <p:cNvSpPr/>
          <p:nvPr/>
        </p:nvSpPr>
        <p:spPr>
          <a:xfrm>
            <a:off x="6280190" y="2928342"/>
            <a:ext cx="510302" cy="510302"/>
          </a:xfrm>
          <a:prstGeom prst="roundRect">
            <a:avLst>
              <a:gd name="adj" fmla="val 6667"/>
            </a:avLst>
          </a:prstGeom>
          <a:solidFill>
            <a:srgbClr val="EAE8F3"/>
          </a:solidFill>
          <a:ln/>
        </p:spPr>
        <p:txBody>
          <a:bodyPr/>
          <a:lstStyle/>
          <a:p>
            <a:endParaRPr lang="en-US"/>
          </a:p>
        </p:txBody>
      </p:sp>
      <p:sp>
        <p:nvSpPr>
          <p:cNvPr id="5" name="Text 2"/>
          <p:cNvSpPr/>
          <p:nvPr/>
        </p:nvSpPr>
        <p:spPr>
          <a:xfrm>
            <a:off x="7017306" y="30062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Model Strengths</a:t>
            </a:r>
            <a:endParaRPr lang="en-US" sz="2200" dirty="0"/>
          </a:p>
        </p:txBody>
      </p:sp>
      <p:sp>
        <p:nvSpPr>
          <p:cNvPr id="6" name="Text 3"/>
          <p:cNvSpPr/>
          <p:nvPr/>
        </p:nvSpPr>
        <p:spPr>
          <a:xfrm>
            <a:off x="7017306" y="3496627"/>
            <a:ext cx="2899410"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LLM excels in context and sarcasm; XGBoost shows high precision; Logistic Regression offers interpretability.</a:t>
            </a:r>
            <a:endParaRPr lang="en-US" sz="1750" dirty="0"/>
          </a:p>
        </p:txBody>
      </p:sp>
      <p:sp>
        <p:nvSpPr>
          <p:cNvPr id="7" name="Shape 4"/>
          <p:cNvSpPr/>
          <p:nvPr/>
        </p:nvSpPr>
        <p:spPr>
          <a:xfrm>
            <a:off x="10200203" y="2928342"/>
            <a:ext cx="510302" cy="510302"/>
          </a:xfrm>
          <a:prstGeom prst="roundRect">
            <a:avLst>
              <a:gd name="adj" fmla="val 6667"/>
            </a:avLst>
          </a:prstGeom>
          <a:solidFill>
            <a:srgbClr val="EAE8F3"/>
          </a:solidFill>
          <a:ln/>
        </p:spPr>
        <p:txBody>
          <a:bodyPr/>
          <a:lstStyle/>
          <a:p>
            <a:endParaRPr lang="en-US"/>
          </a:p>
        </p:txBody>
      </p:sp>
      <p:sp>
        <p:nvSpPr>
          <p:cNvPr id="8" name="Text 5"/>
          <p:cNvSpPr/>
          <p:nvPr/>
        </p:nvSpPr>
        <p:spPr>
          <a:xfrm>
            <a:off x="10937319" y="30062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Challenges</a:t>
            </a:r>
            <a:endParaRPr lang="en-US" sz="2200" dirty="0"/>
          </a:p>
        </p:txBody>
      </p:sp>
      <p:sp>
        <p:nvSpPr>
          <p:cNvPr id="9" name="Text 6"/>
          <p:cNvSpPr/>
          <p:nvPr/>
        </p:nvSpPr>
        <p:spPr>
          <a:xfrm>
            <a:off x="10937319" y="3496627"/>
            <a:ext cx="2899410"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Class imbalance leads to high accuracy but poor minority class detection; ambiguous language affects all models.</a:t>
            </a:r>
            <a:endParaRPr lang="en-US" sz="1750" dirty="0"/>
          </a:p>
        </p:txBody>
      </p:sp>
      <p:sp>
        <p:nvSpPr>
          <p:cNvPr id="10" name="Shape 7"/>
          <p:cNvSpPr/>
          <p:nvPr/>
        </p:nvSpPr>
        <p:spPr>
          <a:xfrm>
            <a:off x="6280190" y="5764768"/>
            <a:ext cx="510302" cy="510302"/>
          </a:xfrm>
          <a:prstGeom prst="roundRect">
            <a:avLst>
              <a:gd name="adj" fmla="val 6667"/>
            </a:avLst>
          </a:prstGeom>
          <a:solidFill>
            <a:srgbClr val="EAE8F3"/>
          </a:solidFill>
          <a:ln/>
        </p:spPr>
        <p:txBody>
          <a:bodyPr/>
          <a:lstStyle/>
          <a:p>
            <a:endParaRPr lang="en-US"/>
          </a:p>
        </p:txBody>
      </p:sp>
      <p:sp>
        <p:nvSpPr>
          <p:cNvPr id="11" name="Text 8"/>
          <p:cNvSpPr/>
          <p:nvPr/>
        </p:nvSpPr>
        <p:spPr>
          <a:xfrm>
            <a:off x="7017306" y="58426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Metrics</a:t>
            </a:r>
            <a:endParaRPr lang="en-US" sz="2200" dirty="0"/>
          </a:p>
        </p:txBody>
      </p:sp>
      <p:sp>
        <p:nvSpPr>
          <p:cNvPr id="12" name="Text 9"/>
          <p:cNvSpPr/>
          <p:nvPr/>
        </p:nvSpPr>
        <p:spPr>
          <a:xfrm>
            <a:off x="7017306" y="6333053"/>
            <a:ext cx="6819305"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Overall accuracy 66%, macro precision 64%, recall 65%, F1-score 62%, highlighting room for improvement.</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358509"/>
            <a:ext cx="10042327"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Business Insights and Future Work</a:t>
            </a:r>
            <a:endParaRPr lang="en-US" sz="4450" dirty="0"/>
          </a:p>
        </p:txBody>
      </p:sp>
      <p:sp>
        <p:nvSpPr>
          <p:cNvPr id="3" name="Text 1"/>
          <p:cNvSpPr/>
          <p:nvPr/>
        </p:nvSpPr>
        <p:spPr>
          <a:xfrm>
            <a:off x="793790" y="3634264"/>
            <a:ext cx="3130153"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Business Applications</a:t>
            </a:r>
            <a:endParaRPr lang="en-US" sz="2200" dirty="0"/>
          </a:p>
        </p:txBody>
      </p:sp>
      <p:sp>
        <p:nvSpPr>
          <p:cNvPr id="4" name="Text 2"/>
          <p:cNvSpPr/>
          <p:nvPr/>
        </p:nvSpPr>
        <p:spPr>
          <a:xfrm>
            <a:off x="793790" y="4215408"/>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Sentiment signals can inform trading strategies, risk management, and detect retail investor trends around key events.</a:t>
            </a:r>
            <a:endParaRPr lang="en-US" sz="1750" dirty="0"/>
          </a:p>
        </p:txBody>
      </p:sp>
      <p:sp>
        <p:nvSpPr>
          <p:cNvPr id="5" name="Text 3"/>
          <p:cNvSpPr/>
          <p:nvPr/>
        </p:nvSpPr>
        <p:spPr>
          <a:xfrm>
            <a:off x="5332928" y="3634264"/>
            <a:ext cx="3212306"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Future Enhancements</a:t>
            </a:r>
            <a:endParaRPr lang="en-US" sz="2200" dirty="0"/>
          </a:p>
        </p:txBody>
      </p:sp>
      <p:sp>
        <p:nvSpPr>
          <p:cNvPr id="6" name="Text 4"/>
          <p:cNvSpPr/>
          <p:nvPr/>
        </p:nvSpPr>
        <p:spPr>
          <a:xfrm>
            <a:off x="5332928" y="4215408"/>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Incorporate advanced LLMs fine-tuned on finance, add external data like news and volatility, and explore temporal models.</a:t>
            </a:r>
            <a:endParaRPr lang="en-US" sz="1750" dirty="0"/>
          </a:p>
        </p:txBody>
      </p:sp>
      <p:sp>
        <p:nvSpPr>
          <p:cNvPr id="7" name="Text 5"/>
          <p:cNvSpPr/>
          <p:nvPr/>
        </p:nvSpPr>
        <p:spPr>
          <a:xfrm>
            <a:off x="9872067" y="36342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Deployment</a:t>
            </a:r>
            <a:endParaRPr lang="en-US" sz="2200" dirty="0"/>
          </a:p>
        </p:txBody>
      </p:sp>
      <p:sp>
        <p:nvSpPr>
          <p:cNvPr id="8" name="Text 6"/>
          <p:cNvSpPr/>
          <p:nvPr/>
        </p:nvSpPr>
        <p:spPr>
          <a:xfrm>
            <a:off x="9872067" y="4215408"/>
            <a:ext cx="3978116"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Develop real-time dashboards and expand coverage to global markets and multiple languages for broader applicability.</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8987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Critical Evaluation and Conclusion</a:t>
            </a:r>
            <a:endParaRPr lang="en-US" sz="4450" dirty="0"/>
          </a:p>
        </p:txBody>
      </p:sp>
      <p:sp>
        <p:nvSpPr>
          <p:cNvPr id="4" name="Shape 1"/>
          <p:cNvSpPr/>
          <p:nvPr/>
        </p:nvSpPr>
        <p:spPr>
          <a:xfrm>
            <a:off x="6280190" y="2647593"/>
            <a:ext cx="170021" cy="1216223"/>
          </a:xfrm>
          <a:prstGeom prst="roundRect">
            <a:avLst>
              <a:gd name="adj" fmla="val 20012"/>
            </a:avLst>
          </a:prstGeom>
          <a:solidFill>
            <a:srgbClr val="EAE8F3"/>
          </a:solidFill>
          <a:ln/>
        </p:spPr>
        <p:txBody>
          <a:bodyPr/>
          <a:lstStyle/>
          <a:p>
            <a:endParaRPr lang="en-US"/>
          </a:p>
        </p:txBody>
      </p:sp>
      <p:sp>
        <p:nvSpPr>
          <p:cNvPr id="5" name="Text 2"/>
          <p:cNvSpPr/>
          <p:nvPr/>
        </p:nvSpPr>
        <p:spPr>
          <a:xfrm>
            <a:off x="6790373" y="26475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Strengths</a:t>
            </a:r>
            <a:endParaRPr lang="en-US" sz="2200" dirty="0"/>
          </a:p>
        </p:txBody>
      </p:sp>
      <p:sp>
        <p:nvSpPr>
          <p:cNvPr id="6" name="Text 3"/>
          <p:cNvSpPr/>
          <p:nvPr/>
        </p:nvSpPr>
        <p:spPr>
          <a:xfrm>
            <a:off x="6790373" y="3138011"/>
            <a:ext cx="7046238"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LLM captures nuanced sentiment; fusion strategy improves label reliability; XGBoost models complex patterns effectively.</a:t>
            </a:r>
            <a:endParaRPr lang="en-US" sz="1750" dirty="0"/>
          </a:p>
        </p:txBody>
      </p:sp>
      <p:sp>
        <p:nvSpPr>
          <p:cNvPr id="7" name="Shape 4"/>
          <p:cNvSpPr/>
          <p:nvPr/>
        </p:nvSpPr>
        <p:spPr>
          <a:xfrm>
            <a:off x="6620351" y="4090630"/>
            <a:ext cx="170021" cy="1216223"/>
          </a:xfrm>
          <a:prstGeom prst="roundRect">
            <a:avLst>
              <a:gd name="adj" fmla="val 20012"/>
            </a:avLst>
          </a:prstGeom>
          <a:solidFill>
            <a:srgbClr val="EAE8F3"/>
          </a:solidFill>
          <a:ln/>
        </p:spPr>
        <p:txBody>
          <a:bodyPr/>
          <a:lstStyle/>
          <a:p>
            <a:endParaRPr lang="en-US"/>
          </a:p>
        </p:txBody>
      </p:sp>
      <p:sp>
        <p:nvSpPr>
          <p:cNvPr id="8" name="Text 5"/>
          <p:cNvSpPr/>
          <p:nvPr/>
        </p:nvSpPr>
        <p:spPr>
          <a:xfrm>
            <a:off x="7130534" y="409063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Limitations</a:t>
            </a:r>
            <a:endParaRPr lang="en-US" sz="2200" dirty="0"/>
          </a:p>
        </p:txBody>
      </p:sp>
      <p:sp>
        <p:nvSpPr>
          <p:cNvPr id="9" name="Text 6"/>
          <p:cNvSpPr/>
          <p:nvPr/>
        </p:nvSpPr>
        <p:spPr>
          <a:xfrm>
            <a:off x="7130534" y="4581049"/>
            <a:ext cx="6706076"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Neutral class bias, limited metadata, and occasional LLM uncertainty reduce prediction granularity and accuracy.</a:t>
            </a:r>
            <a:endParaRPr lang="en-US" sz="1750" dirty="0"/>
          </a:p>
        </p:txBody>
      </p:sp>
      <p:sp>
        <p:nvSpPr>
          <p:cNvPr id="10" name="Shape 7"/>
          <p:cNvSpPr/>
          <p:nvPr/>
        </p:nvSpPr>
        <p:spPr>
          <a:xfrm>
            <a:off x="6960632" y="5533668"/>
            <a:ext cx="170021" cy="1579126"/>
          </a:xfrm>
          <a:prstGeom prst="roundRect">
            <a:avLst>
              <a:gd name="adj" fmla="val 20012"/>
            </a:avLst>
          </a:prstGeom>
          <a:solidFill>
            <a:srgbClr val="EAE8F3"/>
          </a:solidFill>
          <a:ln/>
        </p:spPr>
        <p:txBody>
          <a:bodyPr/>
          <a:lstStyle/>
          <a:p>
            <a:endParaRPr lang="en-US"/>
          </a:p>
        </p:txBody>
      </p:sp>
      <p:sp>
        <p:nvSpPr>
          <p:cNvPr id="11" name="Text 8"/>
          <p:cNvSpPr/>
          <p:nvPr/>
        </p:nvSpPr>
        <p:spPr>
          <a:xfrm>
            <a:off x="7470815" y="55336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Conclusion</a:t>
            </a:r>
            <a:endParaRPr lang="en-US" sz="2200" dirty="0"/>
          </a:p>
        </p:txBody>
      </p:sp>
      <p:sp>
        <p:nvSpPr>
          <p:cNvPr id="12" name="Text 9"/>
          <p:cNvSpPr/>
          <p:nvPr/>
        </p:nvSpPr>
        <p:spPr>
          <a:xfrm>
            <a:off x="7470815" y="6024086"/>
            <a:ext cx="6365796"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Reddit sentiment analysis shows promise for stock prediction, but integrating richer data and models is needed for practical forecasting.</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687</Words>
  <Application>Microsoft Macintosh PowerPoint</Application>
  <PresentationFormat>Custom</PresentationFormat>
  <Paragraphs>75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Open Sans</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Nihaar Chhaba</cp:lastModifiedBy>
  <cp:revision>2</cp:revision>
  <dcterms:created xsi:type="dcterms:W3CDTF">2025-05-12T20:26:36Z</dcterms:created>
  <dcterms:modified xsi:type="dcterms:W3CDTF">2025-05-13T00:02:27Z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2025-05-13T00:02:27Z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032f91ac-b349-471b-853a-c516192e309c</vt:lpwstr>
  </property>
  <property fmtid="{D5CDD505-2E9C-101B-9397-08002B2CF9AE}" pid="8" name="MSIP_Label_a73fd474-4f3c-44ed-88fb-5cc4bd2471bf_ContentBits">
    <vt:lpwstr>0</vt:lpwstr>
  </property>
  <property fmtid="{D5CDD505-2E9C-101B-9397-08002B2CF9AE}" pid="9" name="MSIP_Label_a73fd474-4f3c-44ed-88fb-5cc4bd2471bf_Tag">
    <vt:lpwstr>50, 3, 0, 1</vt:lpwstr>
  </property>
</Properties>
</file>